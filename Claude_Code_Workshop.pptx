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11183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Claude Code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6876" y="2834640"/>
            <a:ext cx="7315200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971800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C9D1D9"/>
                </a:solidFill>
                <a:latin typeface="Calibri"/>
              </a:rPr>
              <a:t>Building AI-Powered Applications with Agents, Skills &amp;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11183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E97B3C"/>
                </a:solidFill>
                <a:latin typeface="Calibri"/>
              </a:rPr>
              <a:t>Powered by Anthropic Claude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5943600"/>
            <a:ext cx="109728" cy="109728"/>
          </a:xfrm>
          <a:prstGeom prst="ellipse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5943600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86000" y="5943600"/>
            <a:ext cx="109728" cy="109728"/>
          </a:xfrm>
          <a:prstGeom prst="ellipse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Is Claude Code?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31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9D1D9"/>
                </a:solidFill>
                <a:latin typeface="Calibri"/>
              </a:rPr>
              <a:t>•  Anthropic's agentic CLI — runs Claude directly in terminal, IDE, or browser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9D1D9"/>
                </a:solidFill>
                <a:latin typeface="Calibri"/>
              </a:rPr>
              <a:t>•  Not just chat — an autonomous coding agent that reads, writes, runs, and searches your codebase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9D1D9"/>
                </a:solidFill>
                <a:latin typeface="Calibri"/>
              </a:rPr>
              <a:t>•  Executes shell commands, tests, and build pipelines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9D1D9"/>
                </a:solidFill>
                <a:latin typeface="Calibri"/>
              </a:rPr>
              <a:t>•  Spawns sub-agents to parallelise complex work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9D1D9"/>
                </a:solidFill>
                <a:latin typeface="Calibri"/>
              </a:rPr>
              <a:t>•  Remembers context across sessions via memory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520440"/>
            <a:ext cx="111831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9D1D9"/>
                </a:solidFill>
                <a:latin typeface="Calibri"/>
              </a:rPr>
              <a:t>Available on:  </a:t>
            </a:r>
            <a:r>
              <a:rPr sz="1300" b="1">
                <a:solidFill>
                  <a:srgbClr val="2DD4BF"/>
                </a:solidFill>
                <a:latin typeface="Calibri"/>
              </a:rPr>
              <a:t>CLI · Desktop App · claude.ai/code · VS Code · JetBrains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114800"/>
            <a:ext cx="11183112" cy="1005840"/>
          </a:xfrm>
          <a:prstGeom prst="rect">
            <a:avLst/>
          </a:prstGeom>
          <a:solidFill>
            <a:srgbClr val="1C2B3A"/>
          </a:solidFill>
          <a:ln w="1270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l"/>
            <a:r>
              <a:rPr sz="1400" i="1">
                <a:solidFill>
                  <a:srgbClr val="FFFFFF"/>
                </a:solidFill>
                <a:latin typeface="Calibri"/>
              </a:rPr>
              <a:t>Key mental model:  "Claude Code is a senior engineer at the keyboard — not a text generator. You describe intent; it executes."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14800"/>
            <a:ext cx="73152" cy="100584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Core Features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Agentic file editing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Reads, diffs, and edits files with surgical precision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Bash execution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Runs tests, installs packages, starts servers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Web search &amp; fetch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Researches docs and APIs in real time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Plan Mode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Designs architecture before writing any code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Sub-agents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Spawns specialised agents for parallel work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Skills (/commands)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Reusable slash-command scripts you invoke by name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MCP servers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Plug-in integrations: databases, Slack, Jira, browsers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Memory system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Persists facts, preferences, decisions across sessions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Hooks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Shell scripts that fire on tool events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CLAUDE.md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Project-level instructions loaded into every session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Plan Mode — Design Before You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B3C"/>
                </a:solidFill>
                <a:latin typeface="Calibr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4543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Read-only architect mode  (Shift+Tab+Tab  or  /plan)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Explores the codebase, asks clarifying questions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Produces a structured plan — without touching a single file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Plan saved to  .claude/plans/  for your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1143000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B3C"/>
                </a:solidFill>
                <a:latin typeface="Calibri"/>
              </a:rPr>
              <a:t>Why Use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600200"/>
            <a:ext cx="54543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Prevents expensive wrong-direction implementations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Forces alignment before work starts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Generates a reviewable, editable plan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11183112" cy="260604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/>
            <a:r>
              <a:rPr sz="1100">
                <a:solidFill>
                  <a:srgbClr val="A5D6FF"/>
                </a:solidFill>
                <a:latin typeface="Courier New"/>
              </a:rPr>
              <a:t>/plan</a:t>
            </a:r>
          </a:p>
          <a:p>
            <a:endParaRPr sz="1100">
              <a:solidFill>
                <a:srgbClr val="A5D6FF"/>
              </a:solidFill>
              <a:latin typeface="Courier New"/>
            </a:endParaRPr>
          </a:p>
          <a:p>
            <a:r>
              <a:rPr sz="1100">
                <a:solidFill>
                  <a:srgbClr val="A5D6FF"/>
                </a:solidFill>
                <a:latin typeface="Courier New"/>
              </a:rPr>
              <a:t>I want to build a robotics news aggregator page.</a:t>
            </a:r>
          </a:p>
          <a:p>
            <a:r>
              <a:rPr sz="1100">
                <a:solidFill>
                  <a:srgbClr val="A5D6FF"/>
                </a:solidFill>
                <a:latin typeface="Courier New"/>
              </a:rPr>
              <a:t>The backend has an existing news pattern to replicate.</a:t>
            </a:r>
          </a:p>
          <a:p>
            <a:r>
              <a:rPr sz="1100">
                <a:solidFill>
                  <a:srgbClr val="A5D6FF"/>
                </a:solidFill>
                <a:latin typeface="Courier New"/>
              </a:rPr>
              <a:t>No AWS credentials — use the direct Anthropic API.</a:t>
            </a:r>
          </a:p>
          <a:p>
            <a:r>
              <a:rPr sz="1100">
                <a:solidFill>
                  <a:srgbClr val="A5D6FF"/>
                </a:solidFill>
                <a:latin typeface="Courier New"/>
              </a:rPr>
              <a:t>Consider security at every layer. Use the</a:t>
            </a:r>
          </a:p>
          <a:p>
            <a:r>
              <a:rPr sz="1100">
                <a:solidFill>
                  <a:srgbClr val="A5D6FF"/>
                </a:solidFill>
                <a:latin typeface="Courier New"/>
              </a:rPr>
              <a:t>backend-architect and security-auditor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Sub-Agents — Parallelism &amp; Specialisation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1D9"/>
                </a:solidFill>
                <a:latin typeface="Calibri"/>
              </a:rPr>
              <a:t>Claude Code can spawn child agents, each with a specialised role.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1556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Explore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Fast codebase mapping, file search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Architecture design, implementation strategy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fullstack-developer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Features spanning DB + API + frontend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code-reviewer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Quality, security, SOLID principles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debugger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Root cause analysis, stack trace investigation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python-pro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Type-safe async Python, FastAPI, pytest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devops-engineer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CI/CD, Docker, cloud infrastructure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general-purpose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Multi-step research, open-ended tasks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760720"/>
            <a:ext cx="11183112" cy="685800"/>
          </a:xfrm>
          <a:prstGeom prst="rect">
            <a:avLst/>
          </a:prstGeom>
          <a:solidFill>
            <a:srgbClr val="1C2B3A"/>
          </a:solidFill>
          <a:ln w="1270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Key principle:  Independent tasks run in parallel. Dependent tasks run sequentially.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60720"/>
            <a:ext cx="73152" cy="6858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Skills — Reusable Slash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B3C"/>
                </a:solidFill>
                <a:latin typeface="Calibri"/>
              </a:rPr>
              <a:t>What are Skills?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4543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Markdown files in  .claude/commands/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Define a custom /command you invoke by name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Can reference conversation history, files, and tools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Shareable across your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1143000"/>
            <a:ext cx="54543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B3C"/>
                </a:solidFill>
                <a:latin typeface="Calibri"/>
              </a:rPr>
              <a:t>Example skill file: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600200"/>
            <a:ext cx="5454396" cy="347472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/>
            <a:r>
              <a:rPr sz="1000">
                <a:solidFill>
                  <a:srgbClr val="A5D6FF"/>
                </a:solidFill>
                <a:latin typeface="Courier New"/>
              </a:rPr>
              <a:t>---</a:t>
            </a: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description: Summarise session → append to CLAUDE.md</a:t>
            </a: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---</a:t>
            </a:r>
          </a:p>
          <a:p>
            <a:endParaRPr sz="1000">
              <a:solidFill>
                <a:srgbClr val="A5D6FF"/>
              </a:solidFill>
              <a:latin typeface="Courier New"/>
            </a:endParaRP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Review this conversation. Extract:</a:t>
            </a: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1. Architectural decisions made</a:t>
            </a: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2. Patterns established</a:t>
            </a: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3. Files created or changed</a:t>
            </a: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4. User preferences</a:t>
            </a:r>
          </a:p>
          <a:p>
            <a:endParaRPr sz="1000">
              <a:solidFill>
                <a:srgbClr val="A5D6FF"/>
              </a:solidFill>
              <a:latin typeface="Courier New"/>
            </a:endParaRPr>
          </a:p>
          <a:p>
            <a:r>
              <a:rPr sz="1000">
                <a:solidFill>
                  <a:srgbClr val="A5D6FF"/>
                </a:solidFill>
                <a:latin typeface="Courier New"/>
              </a:rPr>
              <a:t>Append a dated summary block to CLAUDE.md.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9D1D9"/>
                </a:solidFill>
                <a:latin typeface="Calibri"/>
              </a:rPr>
              <a:t>Invoke with:  </a:t>
            </a:r>
            <a:r>
              <a:rPr sz="1400" b="1">
                <a:solidFill>
                  <a:srgbClr val="2DD4BF"/>
                </a:solidFill>
                <a:latin typeface="Courier New"/>
              </a:rPr>
              <a:t>/save-to-claude-md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MCP — Plug-In Integrations for Claude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Calibri"/>
              </a:rPr>
              <a:t>Model Context Protocol — an open standard for tool plugins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83112" cy="77724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/>
            <a:r>
              <a:rPr sz="1100">
                <a:solidFill>
                  <a:srgbClr val="A5D6FF"/>
                </a:solidFill>
                <a:latin typeface="Courier New"/>
              </a:rPr>
              <a:t>claude mcp add github    -- npx @anthropic/mcp-server-github</a:t>
            </a:r>
          </a:p>
          <a:p>
            <a:r>
              <a:rPr sz="1100">
                <a:solidFill>
                  <a:srgbClr val="A5D6FF"/>
                </a:solidFill>
                <a:latin typeface="Courier New"/>
              </a:rPr>
              <a:t>claude mcp add postgres  -- npx @anthropic/mcp-server-postgres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46888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MCP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What Claude Can Do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GitHub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Open PRs, comment on issues, create branches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Query and migrate databases directly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Slack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Post messages, read channels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Browser (Puppeteer)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Navigate pages, screenshots, fill forms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Jira / Linear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Create and update tickets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Filesystem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Extended file operations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83112" cy="685800"/>
          </a:xfrm>
          <a:prstGeom prst="rect">
            <a:avLst/>
          </a:prstGeom>
          <a:solidFill>
            <a:srgbClr val="1C2B3A"/>
          </a:solidFill>
          <a:ln w="1270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l"/>
            <a:r>
              <a:rPr sz="1400" i="1">
                <a:solidFill>
                  <a:srgbClr val="FFFFFF"/>
                </a:solidFill>
                <a:latin typeface="Calibri"/>
              </a:rPr>
              <a:t>MCP turns Claude from a code editor into a full workflow automation engine.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623560"/>
            <a:ext cx="73152" cy="6858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app.aitmpl.com — The Claude Code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Calibri"/>
              </a:rPr>
              <a:t>Community-built Skills, Agents, MCPs, Hooks, Commands, and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7B3C"/>
                </a:solidFill>
                <a:latin typeface="Calibri"/>
              </a:rPr>
              <a:t>What You Can Browse &amp;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54086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Skills — slash commands for common workflows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Agents — specialised sub-agent definitions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MCP configs — ready-to-use server configurations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Hooks — event-triggered shell scripts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Settings — best-practice presets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600200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7B3C"/>
                </a:solidFill>
                <a:latin typeface="Calibri"/>
              </a:rPr>
              <a:t>Featured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2029968"/>
            <a:ext cx="54086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BrainGrid — AI product planner → generates scoped tasks Claude can execute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Bright Data — Full web scraping stack (perfect for news aggregators)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TinyFish — AI web agent platform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9D1D9"/>
                </a:solidFill>
                <a:latin typeface="Calibri"/>
              </a:rPr>
              <a:t>•  ClaudeKit — Pre-built agents and skills toolkit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11183112" cy="777240"/>
          </a:xfrm>
          <a:prstGeom prst="rect">
            <a:avLst/>
          </a:prstGeom>
          <a:solidFill>
            <a:srgbClr val="1C2B3A"/>
          </a:solidFill>
          <a:ln w="1270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How to use:  Browse → Add to Stack → Download → Copy to  .claude/commands/  or run  claude mcp add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06240"/>
            <a:ext cx="73152" cy="77724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5166360"/>
            <a:ext cx="11183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DD4BF"/>
                </a:solidFill>
                <a:latin typeface="Calibri"/>
              </a:rPr>
              <a:t>app.aitmpl.com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CLAUDE.md — Your Project's Persistent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Calibri"/>
              </a:rPr>
              <a:t>Automatically injected into every Claude Code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83112" cy="429768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/>
            <a:r>
              <a:rPr sz="1050">
                <a:solidFill>
                  <a:srgbClr val="A5D6FF"/>
                </a:solidFill>
                <a:latin typeface="Courier New"/>
              </a:rPr>
              <a:t># Project: Tech News Aggregator</a:t>
            </a:r>
          </a:p>
          <a:p>
            <a:endParaRPr sz="1050">
              <a:solidFill>
                <a:srgbClr val="A5D6FF"/>
              </a:solidFill>
              <a:latin typeface="Courier New"/>
            </a:endParaRP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## Stack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Backend: FastAPI, Python 3.11, SQLite, Anthropic SDK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Frontend: React 19, TypeScript, Vite, TanStack Query</a:t>
            </a:r>
          </a:p>
          <a:p>
            <a:endParaRPr sz="1050">
              <a:solidFill>
                <a:srgbClr val="A5D6FF"/>
              </a:solidFill>
              <a:latin typeface="Courier New"/>
            </a:endParaRP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## Conventions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No comments unless the WHY is non-obvious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Parameterised queries only — never string-format SQL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Allowlist-validate all external inputs</a:t>
            </a:r>
          </a:p>
          <a:p>
            <a:endParaRPr sz="1050">
              <a:solidFill>
                <a:srgbClr val="A5D6FF"/>
              </a:solidFill>
              <a:latin typeface="Courier New"/>
            </a:endParaRP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## Architecture Decisions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Dual-provider: settings.use_bedrock gates Bedrock vs Anthropic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env_ignore_empty=True (OS empty vars don't override .env)</a:t>
            </a:r>
          </a:p>
          <a:p>
            <a:endParaRPr sz="1050">
              <a:solidFill>
                <a:srgbClr val="A5D6FF"/>
              </a:solidFill>
              <a:latin typeface="Courier New"/>
            </a:endParaRP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## Do Not</a:t>
            </a:r>
          </a:p>
          <a:p>
            <a:r>
              <a:rPr sz="1050">
                <a:solidFill>
                  <a:srgbClr val="A5D6FF"/>
                </a:solidFill>
                <a:latin typeface="Courier New"/>
              </a:rPr>
              <a:t>- Remove module-level Anthropic import (needed for test mocking)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035040"/>
            <a:ext cx="11183112" cy="594360"/>
          </a:xfrm>
          <a:prstGeom prst="rect">
            <a:avLst/>
          </a:prstGeom>
          <a:solidFill>
            <a:srgbClr val="1C2B3A"/>
          </a:solidFill>
          <a:ln w="1270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Rule of thumb:  If you'd have to re-explain it next session, it belongs in CLAUDE.md.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035040"/>
            <a:ext cx="73152" cy="59436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We Built: Tech News Aggregator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431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B3C"/>
                </a:solidFill>
                <a:latin typeface="Calibri"/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31536" cy="448056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ctr"/>
            <a:r>
              <a:rPr sz="950">
                <a:solidFill>
                  <a:srgbClr val="A5D6FF"/>
                </a:solidFill>
                <a:latin typeface="Courier New"/>
              </a:rPr>
              <a:t>backend/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services/agent_service.py   ← AI agent (dual provider)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tools/news_tools.py         ← RSS fetch + tool schemas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tools/robotics_tools.py     ← Robotics RSS feeds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api/endpoints/robotics.py   ← GET /robotics endpoint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database/db.py              ← SQLite cache + migrations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frontend/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pages/RoboticsPage.tsx      ← Robotics news page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hooks/useRoboticsNews.ts    ← TanStack Query hook</a:t>
            </a:r>
          </a:p>
          <a:p>
            <a:r>
              <a:rPr sz="950">
                <a:solidFill>
                  <a:srgbClr val="A5D6FF"/>
                </a:solidFill>
                <a:latin typeface="Courier New"/>
              </a:rPr>
              <a:t>  App.tsx                     ← View toggle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143000"/>
            <a:ext cx="5431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B3C"/>
                </a:solidFill>
                <a:latin typeface="Calibri"/>
              </a:rPr>
              <a:t>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600200"/>
            <a:ext cx="54315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b="0" sz="1300">
                <a:solidFill>
                  <a:srgbClr val="C9D1D9"/>
                </a:solidFill>
              </a:rPr>
              <a:t>•  Chat interface → Claude agent → reads from shared SQLite DB</a:t>
            </a:r>
          </a:p>
          <a:p>
            <a:pPr algn="l"/>
            <a:r>
              <a:rPr b="0" sz="1300">
                <a:solidFill>
                  <a:srgbClr val="C9D1D9"/>
                </a:solidFill>
              </a:rPr>
              <a:t>•  Pages scrape specialist RSS feeds every 60s → populate DB</a:t>
            </a:r>
          </a:p>
          <a:p>
            <a:pPr algn="l"/>
            <a:r>
              <a:rPr b="0" sz="1300">
                <a:solidFill>
                  <a:srgbClr val="C9D1D9"/>
                </a:solidFill>
              </a:rPr>
              <a:t>•  Chatbot queries DB first (fast) → fetches live only if empty</a:t>
            </a:r>
          </a:p>
          <a:p>
            <a:pPr algn="l"/>
            <a:r>
              <a:rPr b="0" sz="1300">
                <a:solidFill>
                  <a:srgbClr val="C9D1D9"/>
                </a:solidFill>
              </a:rPr>
              <a:t>•  Two new tools: search_all_news (cross-topic) + search_robotics_news</a:t>
            </a:r>
          </a:p>
          <a:p>
            <a:pPr algn="l"/>
            <a:r>
              <a:rPr b="0" sz="1300">
                <a:solidFill>
                  <a:srgbClr val="C9D1D9"/>
                </a:solidFill>
              </a:rPr>
              <a:t>•  Dual AI provider: AWS Bedrock or Anthropic API key</a:t>
            </a:r>
          </a:p>
          <a:p>
            <a:pPr algn="l"/>
            <a:r>
              <a:rPr b="0" sz="1300">
                <a:solidFill>
                  <a:srgbClr val="C9D1D9"/>
                </a:solidFill>
              </a:rPr>
              <a:t>•  Streaming responses via SSE</a:t>
            </a:r>
          </a:p>
          <a:p>
            <a:pPr algn="l"/>
            <a:r>
              <a:rPr b="0" sz="1300">
                <a:solidFill>
                  <a:srgbClr val="C9D1D9"/>
                </a:solidFill>
              </a:rPr>
              <a:t>•  54 passing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65792" y="4480560"/>
            <a:ext cx="1828800" cy="594360"/>
          </a:xfrm>
          <a:prstGeom prst="roundRect">
            <a:avLst/>
          </a:prstGeom>
          <a:solidFill>
            <a:srgbClr val="0E3D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b="1" sz="1400">
                <a:solidFill>
                  <a:srgbClr val="2DD4BF"/>
                </a:solidFill>
              </a:rPr>
              <a:t>54 Tests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00000"/>
            <a:ext cx="11183112" cy="500000"/>
          </a:xfrm>
          <a:prstGeom prst="rect">
            <a:avLst/>
          </a:prstGeom>
          <a:solidFill>
            <a:srgbClr val="E97B3C"/>
          </a:solidFill>
          <a:ln>
            <a:solidFill>
              <a:srgbClr val="E97B3C"/>
            </a:solidFill>
          </a:ln>
        </p:spPr>
        <p:txBody>
          <a:bodyPr wrap="square" tIns="101600" bIns="101600" lIns="152400" rIns="152400">
            <a:spAutoFit/>
          </a:bodyPr>
          <a:lstStyle/>
          <a:p>
            <a:pPr algn="ctr"/>
            <a:r>
              <a:rPr b="1" sz="1400">
                <a:solidFill>
                  <a:srgbClr val="FFFFFF"/>
                </a:solidFill>
              </a:rPr>
              <a:t>One DB, two interfaces — pages scrape it, chatbot reads from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Building With Claude Code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480021" cy="429768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38858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B3C"/>
                </a:solidFill>
                <a:latin typeface="Calibri"/>
              </a:rPr>
              <a:t>1. 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965960"/>
            <a:ext cx="1370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C9D1D9"/>
                </a:solidFill>
                <a:latin typeface="Calibri"/>
              </a:rPr>
              <a:t>"</a:t>
            </a:r>
            <a:r>
              <a:rPr sz="900" dirty="0" err="1">
                <a:solidFill>
                  <a:srgbClr val="C9D1D9"/>
                </a:solidFill>
                <a:latin typeface="Calibri"/>
              </a:rPr>
              <a:t>Familiarise</a:t>
            </a:r>
            <a:r>
              <a:rPr sz="900" dirty="0">
                <a:solidFill>
                  <a:srgbClr val="C9D1D9"/>
                </a:solidFill>
                <a:latin typeface="Calibri"/>
              </a:rPr>
              <a:t> yourself with the codebase.</a:t>
            </a:r>
            <a:r>
              <a:rPr lang="en-US" sz="900" dirty="0">
                <a:solidFill>
                  <a:srgbClr val="C9D1D9"/>
                </a:solidFill>
                <a:latin typeface="Calibri"/>
              </a:rPr>
              <a:t>"</a:t>
            </a:r>
            <a:endParaRPr sz="900" dirty="0">
              <a:solidFill>
                <a:srgbClr val="C9D1D9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20101" y="1143000"/>
            <a:ext cx="1480021" cy="429768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65821" y="1234440"/>
            <a:ext cx="138858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Calibri"/>
              </a:rPr>
              <a:t>2.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4965" y="1965960"/>
            <a:ext cx="137029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9D1D9"/>
                </a:solidFill>
                <a:latin typeface="Calibri"/>
              </a:rPr>
              <a:t>/plan  →  Request robotics feature + AWS bypass + security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7283" y="1143000"/>
            <a:ext cx="1480021" cy="429768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83003" y="1234440"/>
            <a:ext cx="138858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B3C"/>
                </a:solidFill>
                <a:latin typeface="Calibri"/>
              </a:rPr>
              <a:t>3.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2147" y="1965960"/>
            <a:ext cx="137029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9D1D9"/>
                </a:solidFill>
                <a:latin typeface="Calibri"/>
              </a:rPr>
              <a:t>Read .claude/plans/your-plan.md → edit → approve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54465" y="1143000"/>
            <a:ext cx="1480021" cy="429768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0185" y="1234440"/>
            <a:ext cx="138858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Calibri"/>
              </a:rPr>
              <a:t>4. IMPLEMENT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9329" y="1965960"/>
            <a:ext cx="137029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9D1D9"/>
                </a:solidFill>
                <a:latin typeface="Calibri"/>
              </a:rPr>
              <a:t>Agent executes Steps 1–10 (backend), then 11–16 (frontend)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1646" y="1143000"/>
            <a:ext cx="1480021" cy="429768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17366" y="1234440"/>
            <a:ext cx="138858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B3C"/>
                </a:solidFill>
                <a:latin typeface="Calibri"/>
              </a:rPr>
              <a:t>5.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6510" y="1965960"/>
            <a:ext cx="137029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9D1D9"/>
                </a:solidFill>
                <a:latin typeface="Calibri"/>
              </a:rPr>
              <a:t>"Run the full test suite and fix any failures"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88828" y="1143000"/>
            <a:ext cx="1480021" cy="429768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34548" y="1234440"/>
            <a:ext cx="138858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D4BF"/>
                </a:solidFill>
                <a:latin typeface="Calibri"/>
              </a:rPr>
              <a:t>6. DEBUG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3692" y="1965960"/>
            <a:ext cx="137029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9D1D9"/>
                </a:solidFill>
                <a:latin typeface="Calibri"/>
              </a:rPr>
              <a:t>"The robotics page shows no articles found" → Claude traces + fixes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06010" y="1143000"/>
            <a:ext cx="1480021" cy="429768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51730" y="1234440"/>
            <a:ext cx="138858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B3C"/>
                </a:solidFill>
                <a:latin typeface="Calibri"/>
              </a:rPr>
              <a:t>7. 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0874" y="1965960"/>
            <a:ext cx="137029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C9D1D9"/>
                </a:solidFill>
                <a:latin typeface="Calibri"/>
              </a:rPr>
              <a:t>/save-to-claude-md → decisions appended to CLAUDE.md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640680"/>
            <a:ext cx="1480021" cy="4297680"/>
          </a:xfrm>
          <a:prstGeom prst="roundRect">
            <a:avLst>
              <a:gd name="adj" fmla="val 16667"/>
            </a:avLst>
          </a:prstGeom>
          <a:solidFill>
            <a:srgbClr val="131C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32120"/>
            <a:ext cx="138858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2DD4BF"/>
                </a:solidFill>
              </a:rPr>
              <a:t>8. 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6463640"/>
            <a:ext cx="1370293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>
                <a:solidFill>
                  <a:srgbClr val="C9D1D9"/>
                </a:solidFill>
              </a:rPr>
              <a:t>Wire search_all_news + search_robotics_news into the agent so the chatbot reads from the same DB the pages scrape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Best Agents for This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97B3C"/>
                          </a:solidFill>
                          <a:latin typeface="Calibri"/>
                        </a:rPr>
                        <a:t>Example Prompt</a:t>
                      </a:r>
                    </a:p>
                  </a:txBody>
                  <a:tcPr>
                    <a:solidFill>
                      <a:srgbClr val="1E2C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Architecture design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"Design dual-provider agent service with security review"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python-pro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Type-safe FastAPI code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"Add async type hints and pytest coverage to db.py"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code-reviewer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Pre-merge quality gate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"Review agent_service.py for security and SOLID compliance"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debugger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Root cause analysis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"Robotics page returns no articles — trace why"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Explore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Codebase mapping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"How does the existing news endpoint work?"</a:t>
                      </a:r>
                    </a:p>
                  </a:txBody>
                  <a:tcPr>
                    <a:solidFill>
                      <a:srgbClr val="131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fullstack-developer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Cross-layer features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9D1D9"/>
                          </a:solidFill>
                          <a:latin typeface="Calibri"/>
                        </a:rPr>
                        <a:t>"Build the complete Robotics feature DB → API → UI"</a:t>
                      </a:r>
                    </a:p>
                  </a:txBody>
                  <a:tcPr>
                    <a:solidFill>
                      <a:srgbClr val="16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440680"/>
            <a:ext cx="11183112" cy="731520"/>
          </a:xfrm>
          <a:prstGeom prst="rect">
            <a:avLst/>
          </a:prstGeom>
          <a:solidFill>
            <a:srgbClr val="1C2B3A"/>
          </a:solidFill>
          <a:ln w="1270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91440" rtlCol="0" anchor="ctr"/>
          <a:lstStyle/>
          <a:p>
            <a:pPr algn="l"/>
            <a:r>
              <a:rPr sz="1300" i="1">
                <a:solidFill>
                  <a:srgbClr val="FFFFFF"/>
                </a:solidFill>
                <a:latin typeface="Calibri"/>
              </a:rPr>
              <a:t>From aitmpl.com:  look for a web-scraping agent, a security auditor skill, and a test generator skill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440680"/>
            <a:ext cx="73152" cy="73152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Best Practices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51504" cy="210312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651504" cy="54864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271016"/>
            <a:ext cx="3432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97B3C"/>
                </a:solidFill>
                <a:latin typeface="Calibri"/>
              </a:rPr>
              <a:t>Plan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3432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9D1D9"/>
                </a:solidFill>
                <a:latin typeface="Calibri"/>
              </a:rPr>
              <a:t>Always enter Plan Mode before any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8724" y="1143000"/>
            <a:ext cx="3651504" cy="210312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68724" y="1143000"/>
            <a:ext cx="3651504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78452" y="1271016"/>
            <a:ext cx="3432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Calibri"/>
              </a:rPr>
              <a:t>Write CLAUDE.md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8452" y="1783080"/>
            <a:ext cx="3432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9D1D9"/>
                </a:solidFill>
                <a:latin typeface="Calibri"/>
              </a:rPr>
              <a:t>Define stack, conventions, and "do not" rules upfront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528" y="1143000"/>
            <a:ext cx="3651504" cy="210312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34528" y="1143000"/>
            <a:ext cx="3651504" cy="54864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44256" y="1271016"/>
            <a:ext cx="3432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97B3C"/>
                </a:solidFill>
                <a:latin typeface="Calibri"/>
              </a:rPr>
              <a:t>Parallelise with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4256" y="1783080"/>
            <a:ext cx="3432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9D1D9"/>
                </a:solidFill>
                <a:latin typeface="Calibri"/>
              </a:rPr>
              <a:t>Code review + implementation can run simultaneously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29000"/>
            <a:ext cx="3651504" cy="210312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3651504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3557016"/>
            <a:ext cx="3432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Calibri"/>
              </a:rPr>
              <a:t>Security by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069080"/>
            <a:ext cx="3432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9D1D9"/>
                </a:solidFill>
                <a:latin typeface="Calibri"/>
              </a:rPr>
              <a:t>Allowlist inputs · Parameterise queries · Never log secrets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8724" y="3429000"/>
            <a:ext cx="3651504" cy="210312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68724" y="3429000"/>
            <a:ext cx="3651504" cy="54864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78452" y="3557016"/>
            <a:ext cx="3432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97B3C"/>
                </a:solidFill>
                <a:latin typeface="Calibri"/>
              </a:rPr>
              <a:t>Test Before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8452" y="4069080"/>
            <a:ext cx="3432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9D1D9"/>
                </a:solidFill>
                <a:latin typeface="Calibri"/>
              </a:rPr>
              <a:t>Run the full suite and fix failures before declaring 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4528" y="3429000"/>
            <a:ext cx="3651504" cy="2103120"/>
          </a:xfrm>
          <a:prstGeom prst="roundRect">
            <a:avLst/>
          </a:prstGeom>
          <a:solidFill>
            <a:srgbClr val="131C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34528" y="3429000"/>
            <a:ext cx="3651504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44256" y="3557016"/>
            <a:ext cx="3432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Calibri"/>
              </a:rPr>
              <a:t>Save Every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4256" y="4069080"/>
            <a:ext cx="3432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9D1D9"/>
                </a:solidFill>
                <a:latin typeface="Calibri"/>
              </a:rPr>
              <a:t>/save-to-claude-md keeps your project memory current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Workshop Hands-On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Calibri"/>
              </a:rPr>
              <a:t>Follow these steps during the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Clone the repo and open it with claude in the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75104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Read CLAUDE.md — understand what's already documented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Run ./start.sh — confirm backend + frontend are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79776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Run pytest — confirm 53 tests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112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Enter Plan Mode — ask for a new feature (e.g. "add a cybersecurity news tab")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84448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Review the generated plan file in .claude/plans/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86784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Approve and let the agent implement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1636" y="1572768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Watch sub-agents spawn in the terminal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1975104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Run tests again — fix failures with Claude's 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1636" y="2377440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Browse app.aitmpl.com — find one skill or agent to 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1636" y="2779776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Install it and invoke it  (/your-new-skill)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3182112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Run /save-to-claude-md — verify CLAUDE.md is updated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3584448"/>
            <a:ext cx="54543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97B3C"/>
                </a:solidFill>
                <a:latin typeface="Calibri"/>
              </a:rPr>
              <a:t>□  </a:t>
            </a:r>
            <a:r>
              <a:rPr sz="1200">
                <a:solidFill>
                  <a:srgbClr val="C9D1D9"/>
                </a:solidFill>
                <a:latin typeface="Calibri"/>
              </a:rPr>
              <a:t>Open http://localhost:5173 — test the feature you built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83112" cy="25400"/>
          </a:xfrm>
          <a:prstGeom prst="rect">
            <a:avLst/>
          </a:prstGeom>
          <a:solidFill>
            <a:srgbClr val="E97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83112" cy="868680"/>
          </a:xfrm>
          <a:prstGeom prst="rect">
            <a:avLst/>
          </a:prstGeom>
          <a:solidFill>
            <a:srgbClr val="1A1007"/>
          </a:solidFill>
          <a:ln w="19050">
            <a:solidFill>
              <a:srgbClr val="E97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2000" b="1" i="1">
                <a:solidFill>
                  <a:srgbClr val="E97B3C"/>
                </a:solidFill>
                <a:latin typeface="Calibri"/>
              </a:rPr>
              <a:t>"Claude Code is not autocomplete. It is a collaborator."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4543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D4BF"/>
                </a:solidFill>
                <a:latin typeface="Calibri"/>
              </a:rPr>
              <a:t>▸  </a:t>
            </a:r>
            <a:r>
              <a:rPr sz="1300">
                <a:solidFill>
                  <a:srgbClr val="C9D1D9"/>
                </a:solidFill>
                <a:latin typeface="Calibri"/>
              </a:rPr>
              <a:t>Plan before you code — Plan Mode is your architecture review, for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54543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D4BF"/>
                </a:solidFill>
                <a:latin typeface="Calibri"/>
              </a:rPr>
              <a:t>▸  </a:t>
            </a:r>
            <a:r>
              <a:rPr sz="1300">
                <a:solidFill>
                  <a:srgbClr val="C9D1D9"/>
                </a:solidFill>
                <a:latin typeface="Calibri"/>
              </a:rPr>
              <a:t>Agents specialise — the right agent beats one generic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54543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D4BF"/>
                </a:solidFill>
                <a:latin typeface="Calibri"/>
              </a:rPr>
              <a:t>▸  </a:t>
            </a:r>
            <a:r>
              <a:rPr sz="1300">
                <a:solidFill>
                  <a:srgbClr val="C9D1D9"/>
                </a:solidFill>
                <a:latin typeface="Calibri"/>
              </a:rPr>
              <a:t>Skills scale your workflow — 10 minutes of setup saves hours per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1636" y="2286000"/>
            <a:ext cx="54543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D4BF"/>
                </a:solidFill>
                <a:latin typeface="Calibri"/>
              </a:rPr>
              <a:t>▸  </a:t>
            </a:r>
            <a:r>
              <a:rPr sz="1300">
                <a:solidFill>
                  <a:srgbClr val="C9D1D9"/>
                </a:solidFill>
                <a:latin typeface="Calibri"/>
              </a:rPr>
              <a:t>MCP connects everything — your codebase is no longer an island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6" y="2926080"/>
            <a:ext cx="54543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D4BF"/>
                </a:solidFill>
                <a:latin typeface="Calibri"/>
              </a:rPr>
              <a:t>▸  </a:t>
            </a:r>
            <a:r>
              <a:rPr sz="1300">
                <a:solidFill>
                  <a:srgbClr val="C9D1D9"/>
                </a:solidFill>
                <a:latin typeface="Calibri"/>
              </a:rPr>
              <a:t>CLAUDE.md is your team wiki — write it as if the next developer is 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1636" y="3566160"/>
            <a:ext cx="54543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DD4BF"/>
                </a:solidFill>
                <a:latin typeface="Calibri"/>
              </a:rPr>
              <a:t>▸  </a:t>
            </a:r>
            <a:r>
              <a:rPr sz="1300">
                <a:solidFill>
                  <a:srgbClr val="C9D1D9"/>
                </a:solidFill>
                <a:latin typeface="Calibri"/>
              </a:rPr>
              <a:t>app.aitmpl.com is your shortcut — the community has solved most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2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Thank you!  |  </a:t>
            </a:r>
            <a:r>
              <a:rPr sz="1300">
                <a:solidFill>
                  <a:srgbClr val="2DD4BF"/>
                </a:solidFill>
                <a:latin typeface="Calibri"/>
              </a:rPr>
              <a:t>github.com/anthropics/claude-code</a:t>
            </a:r>
            <a:r>
              <a:rPr sz="1300">
                <a:solidFill>
                  <a:srgbClr val="FFFFFF"/>
                </a:solidFill>
                <a:latin typeface="Calibri"/>
              </a:rPr>
              <a:t>  |  </a:t>
            </a:r>
            <a:r>
              <a:rPr sz="1300">
                <a:solidFill>
                  <a:srgbClr val="2DD4BF"/>
                </a:solidFill>
                <a:latin typeface="Calibri"/>
              </a:rPr>
              <a:t>docs.anthropic.com/claude-code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1643</Words>
  <Application>Microsoft Office PowerPoint</Application>
  <PresentationFormat>Custom</PresentationFormat>
  <Paragraphs>239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Ana-Maria Lacatusu</cp:lastModifiedBy>
  <cp:revision>2</cp:revision>
  <dcterms:created xsi:type="dcterms:W3CDTF">2013-01-27T09:14:16Z</dcterms:created>
  <dcterms:modified xsi:type="dcterms:W3CDTF">2026-04-21T09:33:01Z</dcterms:modified>
  <cp:category/>
</cp:coreProperties>
</file>